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handoutMasterIdLst>
    <p:handoutMasterId r:id="rId10"/>
  </p:handoutMasterIdLst>
  <p:sldIdLst>
    <p:sldId id="497" r:id="rId5"/>
    <p:sldId id="2010" r:id="rId6"/>
    <p:sldId id="2012" r:id="rId7"/>
    <p:sldId id="2014" r:id="rId8"/>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248" userDrawn="1">
          <p15:clr>
            <a:srgbClr val="A4A3A4"/>
          </p15:clr>
        </p15:guide>
        <p15:guide id="3" orient="horz" pos="799">
          <p15:clr>
            <a:srgbClr val="A4A3A4"/>
          </p15:clr>
        </p15:guide>
        <p15:guide id="4" pos="262">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in Beer" initials="RB" lastIdx="122" clrIdx="0">
    <p:extLst>
      <p:ext uri="{19B8F6BF-5375-455C-9EA6-DF929625EA0E}">
        <p15:presenceInfo xmlns:p15="http://schemas.microsoft.com/office/powerpoint/2012/main" userId="S-1-5-21-789336058-725345543-839522115-93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281CA"/>
    <a:srgbClr val="1395FB"/>
    <a:srgbClr val="FFFFFF"/>
    <a:srgbClr val="247F2C"/>
    <a:srgbClr val="7F7F7F"/>
    <a:srgbClr val="DA8032"/>
    <a:srgbClr val="DF0F44"/>
    <a:srgbClr val="283B5A"/>
    <a:srgbClr val="023D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88" y="1236"/>
      </p:cViewPr>
      <p:guideLst>
        <p:guide orient="horz" pos="1026"/>
        <p:guide pos="248"/>
        <p:guide orient="horz" pos="799"/>
        <p:guide pos="262"/>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E1389CC-567B-462D-9606-5A6D48725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32223E6-8DEC-4459-8B52-D06E9BD3DA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E9E86A-6679-4EC8-847C-9F954F45BF68}" type="datetimeFigureOut">
              <a:rPr lang="de-DE" smtClean="0"/>
              <a:t>26.03.2025</a:t>
            </a:fld>
            <a:endParaRPr lang="de-DE"/>
          </a:p>
        </p:txBody>
      </p:sp>
      <p:sp>
        <p:nvSpPr>
          <p:cNvPr id="4" name="Fußzeilenplatzhalter 3">
            <a:extLst>
              <a:ext uri="{FF2B5EF4-FFF2-40B4-BE49-F238E27FC236}">
                <a16:creationId xmlns:a16="http://schemas.microsoft.com/office/drawing/2014/main" id="{DDE09F90-192B-4C21-A710-7EFC4BA93B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077B6243-ABD9-472E-9641-6E7B2B863D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48E8B7-5326-4A3E-8AE4-83D3CDA8A9FC}" type="slidenum">
              <a:rPr lang="de-DE" smtClean="0"/>
              <a:t>‹#›</a:t>
            </a:fld>
            <a:endParaRPr lang="de-DE"/>
          </a:p>
        </p:txBody>
      </p:sp>
    </p:spTree>
    <p:extLst>
      <p:ext uri="{BB962C8B-B14F-4D97-AF65-F5344CB8AC3E}">
        <p14:creationId xmlns:p14="http://schemas.microsoft.com/office/powerpoint/2010/main" val="9465754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13C419-10E8-4216-A6CC-B7C8A23909AD}" type="datetimeFigureOut">
              <a:rPr lang="de-DE" smtClean="0"/>
              <a:t>26.03.2025</a:t>
            </a:fld>
            <a:endParaRPr lang="de-DE"/>
          </a:p>
        </p:txBody>
      </p:sp>
      <p:sp>
        <p:nvSpPr>
          <p:cNvPr id="4" name="Folienbildplatzhalt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6CAD1-FD47-46B0-9C16-1B81F4E690E0}" type="slidenum">
              <a:rPr lang="de-DE" smtClean="0"/>
              <a:t>‹#›</a:t>
            </a:fld>
            <a:endParaRPr lang="de-DE"/>
          </a:p>
        </p:txBody>
      </p:sp>
    </p:spTree>
    <p:extLst>
      <p:ext uri="{BB962C8B-B14F-4D97-AF65-F5344CB8AC3E}">
        <p14:creationId xmlns:p14="http://schemas.microsoft.com/office/powerpoint/2010/main" val="901325447"/>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6286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10858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15430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20002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E713E3ED-78BF-4AEF-A5C2-46B7E751DB0E}"/>
              </a:ext>
            </a:extLst>
          </p:cNvPr>
          <p:cNvSpPr/>
          <p:nvPr userDrawn="1"/>
        </p:nvSpPr>
        <p:spPr>
          <a:xfrm>
            <a:off x="1" y="380577"/>
            <a:ext cx="9906000" cy="5028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noProof="0"/>
          </a:p>
        </p:txBody>
      </p:sp>
      <p:sp>
        <p:nvSpPr>
          <p:cNvPr id="2" name="Title 1"/>
          <p:cNvSpPr>
            <a:spLocks noGrp="1"/>
          </p:cNvSpPr>
          <p:nvPr>
            <p:ph type="ctrTitle" hasCustomPrompt="1"/>
          </p:nvPr>
        </p:nvSpPr>
        <p:spPr>
          <a:xfrm>
            <a:off x="634225" y="537344"/>
            <a:ext cx="8456577" cy="623404"/>
          </a:xfrm>
          <a:prstGeom prst="rect">
            <a:avLst/>
          </a:prstGeom>
        </p:spPr>
        <p:txBody>
          <a:bodyPr anchor="t"/>
          <a:lstStyle>
            <a:lvl1pPr algn="ctr">
              <a:lnSpc>
                <a:spcPct val="114000"/>
              </a:lnSpc>
              <a:defRPr sz="2400" spc="0" baseline="0">
                <a:solidFill>
                  <a:schemeClr val="bg1"/>
                </a:solidFill>
              </a:defRPr>
            </a:lvl1pPr>
          </a:lstStyle>
          <a:p>
            <a:r>
              <a:rPr lang="en-US" noProof="0"/>
              <a:t>Headline</a:t>
            </a:r>
          </a:p>
        </p:txBody>
      </p:sp>
      <p:sp>
        <p:nvSpPr>
          <p:cNvPr id="3" name="Subtitle 2"/>
          <p:cNvSpPr>
            <a:spLocks noGrp="1"/>
          </p:cNvSpPr>
          <p:nvPr>
            <p:ph type="subTitle" idx="1" hasCustomPrompt="1"/>
          </p:nvPr>
        </p:nvSpPr>
        <p:spPr>
          <a:xfrm>
            <a:off x="629453" y="2444703"/>
            <a:ext cx="8456576" cy="516756"/>
          </a:xfrm>
          <a:prstGeom prst="rect">
            <a:avLst/>
          </a:prstGeom>
        </p:spPr>
        <p:txBody>
          <a:bodyPr>
            <a:normAutofit/>
          </a:bodyPr>
          <a:lstStyle>
            <a:lvl1pPr marL="0" indent="0" algn="ctr">
              <a:buNone/>
              <a:defRPr sz="1600" cap="none" spc="65" baseline="0">
                <a:solidFill>
                  <a:schemeClr val="bg1"/>
                </a:solidFill>
              </a:defRPr>
            </a:lvl1pPr>
            <a:lvl2pPr marL="495328" indent="0" algn="ctr">
              <a:buNone/>
              <a:defRPr sz="2167"/>
            </a:lvl2pPr>
            <a:lvl3pPr marL="990657" indent="0" algn="ctr">
              <a:buNone/>
              <a:defRPr sz="1950"/>
            </a:lvl3pPr>
            <a:lvl4pPr marL="1485984" indent="0" algn="ctr">
              <a:buNone/>
              <a:defRPr sz="1733"/>
            </a:lvl4pPr>
            <a:lvl5pPr marL="1981313" indent="0" algn="ctr">
              <a:buNone/>
              <a:defRPr sz="1733"/>
            </a:lvl5pPr>
            <a:lvl6pPr marL="2476641" indent="0" algn="ctr">
              <a:buNone/>
              <a:defRPr sz="1733"/>
            </a:lvl6pPr>
            <a:lvl7pPr marL="2971970" indent="0" algn="ctr">
              <a:buNone/>
              <a:defRPr sz="1733"/>
            </a:lvl7pPr>
            <a:lvl8pPr marL="3467297" indent="0" algn="ctr">
              <a:buNone/>
              <a:defRPr sz="1733"/>
            </a:lvl8pPr>
            <a:lvl9pPr marL="3962626" indent="0" algn="ctr">
              <a:buNone/>
              <a:defRPr sz="1733"/>
            </a:lvl9pPr>
          </a:lstStyle>
          <a:p>
            <a:r>
              <a:rPr lang="en-US" noProof="0"/>
              <a:t>Date  |  Name</a:t>
            </a:r>
          </a:p>
        </p:txBody>
      </p:sp>
      <p:pic>
        <p:nvPicPr>
          <p:cNvPr id="10" name="Grafik 13">
            <a:extLst>
              <a:ext uri="{FF2B5EF4-FFF2-40B4-BE49-F238E27FC236}">
                <a16:creationId xmlns:a16="http://schemas.microsoft.com/office/drawing/2014/main" id="{CD8EAD64-AF04-4C84-A4BD-DC7D236650F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11200" y="6192000"/>
            <a:ext cx="1922022" cy="548854"/>
          </a:xfrm>
          <a:prstGeom prst="rect">
            <a:avLst/>
          </a:prstGeom>
        </p:spPr>
      </p:pic>
      <p:pic>
        <p:nvPicPr>
          <p:cNvPr id="14" name="Grafik 7">
            <a:extLst>
              <a:ext uri="{FF2B5EF4-FFF2-40B4-BE49-F238E27FC236}">
                <a16:creationId xmlns:a16="http://schemas.microsoft.com/office/drawing/2014/main" id="{F1A4E5FA-E01B-487D-AF33-2995D0586BB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385316" y="6559200"/>
            <a:ext cx="2303553" cy="91462"/>
          </a:xfrm>
          <a:prstGeom prst="rect">
            <a:avLst/>
          </a:prstGeom>
        </p:spPr>
      </p:pic>
      <p:sp>
        <p:nvSpPr>
          <p:cNvPr id="16" name="Untertitel 2">
            <a:extLst>
              <a:ext uri="{FF2B5EF4-FFF2-40B4-BE49-F238E27FC236}">
                <a16:creationId xmlns:a16="http://schemas.microsoft.com/office/drawing/2014/main" id="{EEE304FD-5CB5-4A27-B953-09ADE21E98ED}"/>
              </a:ext>
            </a:extLst>
          </p:cNvPr>
          <p:cNvSpPr txBox="1">
            <a:spLocks/>
          </p:cNvSpPr>
          <p:nvPr userDrawn="1"/>
        </p:nvSpPr>
        <p:spPr>
          <a:xfrm>
            <a:off x="726585" y="4797152"/>
            <a:ext cx="8456579" cy="360040"/>
          </a:xfrm>
          <a:prstGeom prst="rect">
            <a:avLst/>
          </a:prstGeom>
        </p:spPr>
        <p:txBody>
          <a:bodyPr vert="horz" lIns="0" tIns="0" rIns="0" bIns="0" rtlCol="0" anchor="t" anchorCtr="0">
            <a:noAutofit/>
          </a:bodyPr>
          <a:lstStyle>
            <a:lvl1pPr marL="0" indent="0" algn="l" defTabSz="969996" rtl="0" eaLnBrk="1" latinLnBrk="0" hangingPunct="1">
              <a:lnSpc>
                <a:spcPct val="113000"/>
              </a:lnSpc>
              <a:spcBef>
                <a:spcPts val="0"/>
              </a:spcBef>
              <a:spcAft>
                <a:spcPts val="600"/>
              </a:spcAft>
              <a:buFont typeface="Calibri" panose="020F0502020204030204" pitchFamily="34" charset="0"/>
              <a:buNone/>
              <a:defRPr sz="1600" kern="1200" cap="all" spc="64" baseline="0">
                <a:solidFill>
                  <a:schemeClr val="bg1"/>
                </a:solidFill>
                <a:latin typeface="+mn-lt"/>
                <a:ea typeface="+mn-ea"/>
                <a:cs typeface="+mn-cs"/>
              </a:defRPr>
            </a:lvl1pPr>
            <a:lvl2pPr marL="484998" indent="0" algn="ctr" defTabSz="969996" rtl="0" eaLnBrk="1" latinLnBrk="0" hangingPunct="1">
              <a:lnSpc>
                <a:spcPct val="113000"/>
              </a:lnSpc>
              <a:spcBef>
                <a:spcPts val="0"/>
              </a:spcBef>
              <a:spcAft>
                <a:spcPts val="600"/>
              </a:spcAft>
              <a:buFont typeface="Calibri" panose="020F0502020204030204" pitchFamily="34" charset="0"/>
              <a:buNone/>
              <a:defRPr sz="2122" kern="1200">
                <a:solidFill>
                  <a:schemeClr val="tx1"/>
                </a:solidFill>
                <a:latin typeface="+mn-lt"/>
                <a:ea typeface="+mn-ea"/>
                <a:cs typeface="+mn-cs"/>
              </a:defRPr>
            </a:lvl2pPr>
            <a:lvl3pPr marL="969996" indent="0" algn="ctr" defTabSz="969996" rtl="0" eaLnBrk="1" latinLnBrk="0" hangingPunct="1">
              <a:lnSpc>
                <a:spcPct val="113000"/>
              </a:lnSpc>
              <a:spcBef>
                <a:spcPts val="0"/>
              </a:spcBef>
              <a:spcAft>
                <a:spcPts val="600"/>
              </a:spcAft>
              <a:buFont typeface="Calibri" panose="020F0502020204030204" pitchFamily="34" charset="0"/>
              <a:buNone/>
              <a:defRPr sz="1909" kern="1200">
                <a:solidFill>
                  <a:schemeClr val="tx1"/>
                </a:solidFill>
                <a:latin typeface="+mn-lt"/>
                <a:ea typeface="+mn-ea"/>
                <a:cs typeface="+mn-cs"/>
              </a:defRPr>
            </a:lvl3pPr>
            <a:lvl4pPr marL="1454993"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4pPr>
            <a:lvl5pPr marL="1939991"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5pPr>
            <a:lvl6pPr marL="2424989"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6pPr>
            <a:lvl7pPr marL="2909987"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7pPr>
            <a:lvl8pPr marL="3394984"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8pPr>
            <a:lvl9pPr marL="3879982"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9pPr>
          </a:lstStyle>
          <a:p>
            <a:pPr algn="ctr"/>
            <a:r>
              <a:rPr lang="en-US" sz="1600" b="1" cap="none" baseline="0" noProof="0"/>
              <a:t>IEK-3: Institute of Techno-Economic Systems Analysis</a:t>
            </a:r>
          </a:p>
          <a:p>
            <a:pPr algn="ctr"/>
            <a:endParaRPr lang="en-US" sz="1600" b="1" cap="none" baseline="0" noProof="0"/>
          </a:p>
        </p:txBody>
      </p:sp>
    </p:spTree>
    <p:extLst>
      <p:ext uri="{BB962C8B-B14F-4D97-AF65-F5344CB8AC3E}">
        <p14:creationId xmlns:p14="http://schemas.microsoft.com/office/powerpoint/2010/main" val="2389604393"/>
      </p:ext>
    </p:extLst>
  </p:cSld>
  <p:clrMapOvr>
    <a:masterClrMapping/>
  </p:clrMapOvr>
  <p:extLst>
    <p:ext uri="{DCECCB84-F9BA-43D5-87BE-67443E8EF086}">
      <p15:sldGuideLst xmlns:p15="http://schemas.microsoft.com/office/powerpoint/2012/main">
        <p15:guide id="1" pos="457" userDrawn="1">
          <p15:clr>
            <a:srgbClr val="FBAE40"/>
          </p15:clr>
        </p15:guide>
        <p15:guide id="2" pos="578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E95F26-FB0C-4F70-ABAA-668B788D4731}"/>
              </a:ext>
            </a:extLst>
          </p:cNvPr>
          <p:cNvSpPr>
            <a:spLocks noGrp="1"/>
          </p:cNvSpPr>
          <p:nvPr>
            <p:ph type="sldNum" sz="quarter" idx="10"/>
          </p:nvPr>
        </p:nvSpPr>
        <p:spPr/>
        <p:txBody>
          <a:bodyPr/>
          <a:lstStyle/>
          <a:p>
            <a:fld id="{A52F4D17-1AD6-42D9-B93A-EB002C62F438}" type="slidenum">
              <a:rPr lang="de-DE" smtClean="0"/>
              <a:pPr/>
              <a:t>‹#›</a:t>
            </a:fld>
            <a:endParaRPr lang="de-DE"/>
          </a:p>
        </p:txBody>
      </p:sp>
      <p:sp>
        <p:nvSpPr>
          <p:cNvPr id="4" name="Title 1">
            <a:extLst>
              <a:ext uri="{FF2B5EF4-FFF2-40B4-BE49-F238E27FC236}">
                <a16:creationId xmlns:a16="http://schemas.microsoft.com/office/drawing/2014/main" id="{1FE469CE-573C-4BA6-B213-E4A5950FA4C9}"/>
              </a:ext>
            </a:extLst>
          </p:cNvPr>
          <p:cNvSpPr>
            <a:spLocks noGrp="1"/>
          </p:cNvSpPr>
          <p:nvPr>
            <p:ph type="title" hasCustomPrompt="1"/>
          </p:nvPr>
        </p:nvSpPr>
        <p:spPr>
          <a:xfrm>
            <a:off x="393971" y="322022"/>
            <a:ext cx="9116951" cy="442682"/>
          </a:xfrm>
        </p:spPr>
        <p:txBody>
          <a:bodyPr/>
          <a:lstStyle>
            <a:lvl1pPr>
              <a:defRPr spc="0" baseline="0"/>
            </a:lvl1pPr>
          </a:lstStyle>
          <a:p>
            <a:r>
              <a:rPr lang="de-DE"/>
              <a:t>Headline</a:t>
            </a:r>
            <a:endParaRPr lang="en-US"/>
          </a:p>
        </p:txBody>
      </p:sp>
    </p:spTree>
    <p:extLst>
      <p:ext uri="{BB962C8B-B14F-4D97-AF65-F5344CB8AC3E}">
        <p14:creationId xmlns:p14="http://schemas.microsoft.com/office/powerpoint/2010/main" val="121560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Referen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83DA6-F7AB-40BB-91D7-9F2137F2CEC4}"/>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8A1577B-CA73-4BEF-836E-9EF0D974C9CA}"/>
              </a:ext>
            </a:extLst>
          </p:cNvPr>
          <p:cNvSpPr>
            <a:spLocks noGrp="1"/>
          </p:cNvSpPr>
          <p:nvPr>
            <p:ph type="sldNum" sz="quarter" idx="10"/>
          </p:nvPr>
        </p:nvSpPr>
        <p:spPr/>
        <p:txBody>
          <a:bodyPr/>
          <a:lstStyle/>
          <a:p>
            <a:fld id="{A52F4D17-1AD6-42D9-B93A-EB002C62F438}" type="slidenum">
              <a:rPr lang="de-DE" smtClean="0"/>
              <a:pPr/>
              <a:t>‹#›</a:t>
            </a:fld>
            <a:endParaRPr lang="de-DE"/>
          </a:p>
        </p:txBody>
      </p:sp>
      <p:sp>
        <p:nvSpPr>
          <p:cNvPr id="4" name="Textplatzhalter 5">
            <a:extLst>
              <a:ext uri="{FF2B5EF4-FFF2-40B4-BE49-F238E27FC236}">
                <a16:creationId xmlns:a16="http://schemas.microsoft.com/office/drawing/2014/main" id="{9ADD4C66-CCB1-45D4-AB14-B301104814DD}"/>
              </a:ext>
            </a:extLst>
          </p:cNvPr>
          <p:cNvSpPr>
            <a:spLocks noGrp="1"/>
          </p:cNvSpPr>
          <p:nvPr>
            <p:ph type="body" sz="quarter" idx="11" hasCustomPrompt="1"/>
          </p:nvPr>
        </p:nvSpPr>
        <p:spPr>
          <a:xfrm>
            <a:off x="393971" y="6021388"/>
            <a:ext cx="7151417" cy="431800"/>
          </a:xfrm>
        </p:spPr>
        <p:txBody>
          <a:bodyPr>
            <a:noAutofit/>
          </a:bodyPr>
          <a:lstStyle>
            <a:lvl1pPr marL="0" indent="0">
              <a:buNone/>
              <a:defRPr sz="1200" baseline="0">
                <a:solidFill>
                  <a:schemeClr val="tx1"/>
                </a:solidFill>
              </a:defRPr>
            </a:lvl1pPr>
            <a:lvl2pPr>
              <a:defRPr sz="1200"/>
            </a:lvl2pPr>
            <a:lvl3pPr>
              <a:defRPr sz="1200"/>
            </a:lvl3pPr>
            <a:lvl4pPr>
              <a:defRPr sz="1200"/>
            </a:lvl4pPr>
            <a:lvl5pPr>
              <a:defRPr sz="1200"/>
            </a:lvl5pPr>
          </a:lstStyle>
          <a:p>
            <a:pPr lvl="0"/>
            <a:r>
              <a:rPr lang="en-US" noProof="0"/>
              <a:t>Placeholder for references</a:t>
            </a:r>
          </a:p>
        </p:txBody>
      </p:sp>
      <p:sp>
        <p:nvSpPr>
          <p:cNvPr id="5" name="Textplatzhalter 7">
            <a:extLst>
              <a:ext uri="{FF2B5EF4-FFF2-40B4-BE49-F238E27FC236}">
                <a16:creationId xmlns:a16="http://schemas.microsoft.com/office/drawing/2014/main" id="{662F51FF-E4F0-41FC-8FC2-26ADF34DC569}"/>
              </a:ext>
            </a:extLst>
          </p:cNvPr>
          <p:cNvSpPr>
            <a:spLocks noGrp="1"/>
          </p:cNvSpPr>
          <p:nvPr>
            <p:ph type="body" sz="quarter" idx="12"/>
          </p:nvPr>
        </p:nvSpPr>
        <p:spPr>
          <a:xfrm>
            <a:off x="393971" y="1052736"/>
            <a:ext cx="9131029" cy="4866064"/>
          </a:xfrm>
        </p:spPr>
        <p:txBody>
          <a:bodyPr>
            <a:normAutofit/>
          </a:bodyPr>
          <a:lstStyle>
            <a:lvl1pPr>
              <a:defRPr sz="1600"/>
            </a:lvl1pPr>
            <a:lvl2pP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4277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971" y="4869160"/>
            <a:ext cx="8375453" cy="442682"/>
          </a:xfrm>
        </p:spPr>
        <p:txBody>
          <a:bodyPr anchor="b"/>
          <a:lstStyle>
            <a:lvl1pPr algn="r">
              <a:defRPr sz="4400" spc="0" baseline="0"/>
            </a:lvl1pPr>
          </a:lstStyle>
          <a:p>
            <a:r>
              <a:rPr lang="de-DE"/>
              <a:t>Headline</a:t>
            </a:r>
            <a:endParaRPr lang="en-US"/>
          </a:p>
        </p:txBody>
      </p:sp>
      <p:sp>
        <p:nvSpPr>
          <p:cNvPr id="18" name="Foliennummernplatzhalter 17">
            <a:extLst>
              <a:ext uri="{FF2B5EF4-FFF2-40B4-BE49-F238E27FC236}">
                <a16:creationId xmlns:a16="http://schemas.microsoft.com/office/drawing/2014/main" id="{BFF90422-5EA9-49BF-B256-D3D2AA4EDCC9}"/>
              </a:ext>
            </a:extLst>
          </p:cNvPr>
          <p:cNvSpPr>
            <a:spLocks noGrp="1"/>
          </p:cNvSpPr>
          <p:nvPr>
            <p:ph type="sldNum" sz="quarter" idx="14"/>
          </p:nvPr>
        </p:nvSpPr>
        <p:spPr>
          <a:xfrm>
            <a:off x="7113600" y="6523435"/>
            <a:ext cx="504056" cy="230633"/>
          </a:xfrm>
        </p:spPr>
        <p:txBody>
          <a:bodyPr/>
          <a:lstStyle/>
          <a:p>
            <a:fld id="{A52F4D17-1AD6-42D9-B93A-EB002C62F438}" type="slidenum">
              <a:rPr lang="de-DE" smtClean="0"/>
              <a:pPr/>
              <a:t>‹#›</a:t>
            </a:fld>
            <a:endParaRPr lang="de-DE"/>
          </a:p>
        </p:txBody>
      </p:sp>
    </p:spTree>
    <p:extLst>
      <p:ext uri="{BB962C8B-B14F-4D97-AF65-F5344CB8AC3E}">
        <p14:creationId xmlns:p14="http://schemas.microsoft.com/office/powerpoint/2010/main" val="9468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Slide Number Placeholder 5">
            <a:extLst>
              <a:ext uri="{FF2B5EF4-FFF2-40B4-BE49-F238E27FC236}">
                <a16:creationId xmlns:a16="http://schemas.microsoft.com/office/drawing/2014/main" id="{D70266CD-A41F-49F7-9D98-4209AA883530}"/>
              </a:ext>
            </a:extLst>
          </p:cNvPr>
          <p:cNvSpPr>
            <a:spLocks noGrp="1"/>
          </p:cNvSpPr>
          <p:nvPr>
            <p:ph type="sldNum" sz="quarter" idx="4"/>
          </p:nvPr>
        </p:nvSpPr>
        <p:spPr>
          <a:xfrm>
            <a:off x="7113240" y="6527063"/>
            <a:ext cx="432048" cy="230633"/>
          </a:xfrm>
          <a:prstGeom prst="rect">
            <a:avLst/>
          </a:prstGeom>
        </p:spPr>
        <p:txBody>
          <a:bodyPr vert="horz" lIns="0" tIns="0" rIns="0" bIns="0" rtlCol="0" anchor="t" anchorCtr="0">
            <a:noAutofit/>
          </a:bodyPr>
          <a:lstStyle>
            <a:lvl1pPr algn="l">
              <a:defRPr sz="1000">
                <a:solidFill>
                  <a:schemeClr val="accent1"/>
                </a:solidFill>
              </a:defRPr>
            </a:lvl1pPr>
          </a:lstStyle>
          <a:p>
            <a:fld id="{A52F4D17-1AD6-42D9-B93A-EB002C62F438}" type="slidenum">
              <a:rPr lang="de-DE" smtClean="0"/>
              <a:pPr/>
              <a:t>‹#›</a:t>
            </a:fld>
            <a:endParaRPr lang="de-DE"/>
          </a:p>
        </p:txBody>
      </p:sp>
      <p:pic>
        <p:nvPicPr>
          <p:cNvPr id="19" name="Grafik 9">
            <a:extLst>
              <a:ext uri="{FF2B5EF4-FFF2-40B4-BE49-F238E27FC236}">
                <a16:creationId xmlns:a16="http://schemas.microsoft.com/office/drawing/2014/main" id="{EAF7FF5F-7CD5-4C32-BB7A-2E24C7952AE8}"/>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7711200" y="6192000"/>
            <a:ext cx="1922022" cy="548854"/>
          </a:xfrm>
          <a:prstGeom prst="rect">
            <a:avLst/>
          </a:prstGeom>
        </p:spPr>
      </p:pic>
      <p:sp>
        <p:nvSpPr>
          <p:cNvPr id="20" name="Slide Number Placeholder 5">
            <a:extLst>
              <a:ext uri="{FF2B5EF4-FFF2-40B4-BE49-F238E27FC236}">
                <a16:creationId xmlns:a16="http://schemas.microsoft.com/office/drawing/2014/main" id="{FE2AAA4B-C7FD-4739-AE96-822F44261205}"/>
              </a:ext>
            </a:extLst>
          </p:cNvPr>
          <p:cNvSpPr txBox="1">
            <a:spLocks/>
          </p:cNvSpPr>
          <p:nvPr userDrawn="1"/>
        </p:nvSpPr>
        <p:spPr>
          <a:xfrm>
            <a:off x="2936776" y="6520259"/>
            <a:ext cx="3750544" cy="221109"/>
          </a:xfrm>
          <a:prstGeom prst="rect">
            <a:avLst/>
          </a:prstGeom>
        </p:spPr>
        <p:txBody>
          <a:bodyPr vert="horz" lIns="0" tIns="0" rIns="0" bIns="0" rtlCol="0" anchor="t" anchorCtr="0">
            <a:noAutofit/>
          </a:bodyPr>
          <a:lstStyle>
            <a:defPPr>
              <a:defRPr lang="en-US"/>
            </a:defPPr>
            <a:lvl1pPr marL="0" algn="l" defTabSz="457200" rtl="0" eaLnBrk="1" latinLnBrk="0" hangingPunct="1">
              <a:defRPr sz="12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100" b="1" noProof="0"/>
              <a:t>IEK-3: Techno-Economic Systems Analysis</a:t>
            </a:r>
          </a:p>
        </p:txBody>
      </p:sp>
      <p:pic>
        <p:nvPicPr>
          <p:cNvPr id="21" name="Grafik 6">
            <a:extLst>
              <a:ext uri="{FF2B5EF4-FFF2-40B4-BE49-F238E27FC236}">
                <a16:creationId xmlns:a16="http://schemas.microsoft.com/office/drawing/2014/main" id="{1A42DDE9-2901-4A80-99CD-BF27E488D351}"/>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385316" y="6559200"/>
            <a:ext cx="2303553" cy="91462"/>
          </a:xfrm>
          <a:prstGeom prst="rect">
            <a:avLst/>
          </a:prstGeom>
        </p:spPr>
      </p:pic>
      <p:sp>
        <p:nvSpPr>
          <p:cNvPr id="24" name="Title Placeholder 1">
            <a:extLst>
              <a:ext uri="{FF2B5EF4-FFF2-40B4-BE49-F238E27FC236}">
                <a16:creationId xmlns:a16="http://schemas.microsoft.com/office/drawing/2014/main" id="{D0E59E6C-3BD9-419B-B907-E627DABB2F21}"/>
              </a:ext>
            </a:extLst>
          </p:cNvPr>
          <p:cNvSpPr>
            <a:spLocks noGrp="1"/>
          </p:cNvSpPr>
          <p:nvPr>
            <p:ph type="title"/>
          </p:nvPr>
        </p:nvSpPr>
        <p:spPr>
          <a:xfrm>
            <a:off x="393971" y="322022"/>
            <a:ext cx="9116951" cy="442682"/>
          </a:xfrm>
          <a:prstGeom prst="rect">
            <a:avLst/>
          </a:prstGeom>
        </p:spPr>
        <p:txBody>
          <a:bodyPr vert="horz" lIns="0" tIns="0" rIns="0" bIns="0" rtlCol="0" anchor="t" anchorCtr="0">
            <a:noAutofit/>
          </a:bodyPr>
          <a:lstStyle/>
          <a:p>
            <a:r>
              <a:rPr lang="en-US" noProof="0"/>
              <a:t>Headline</a:t>
            </a:r>
          </a:p>
        </p:txBody>
      </p:sp>
      <p:sp>
        <p:nvSpPr>
          <p:cNvPr id="25" name="Textplatzhalter 2">
            <a:extLst>
              <a:ext uri="{FF2B5EF4-FFF2-40B4-BE49-F238E27FC236}">
                <a16:creationId xmlns:a16="http://schemas.microsoft.com/office/drawing/2014/main" id="{5FA5AC7C-2CD3-41D9-AB7D-975F870B08C9}"/>
              </a:ext>
            </a:extLst>
          </p:cNvPr>
          <p:cNvSpPr>
            <a:spLocks noGrp="1"/>
          </p:cNvSpPr>
          <p:nvPr>
            <p:ph type="body" idx="1"/>
          </p:nvPr>
        </p:nvSpPr>
        <p:spPr>
          <a:xfrm>
            <a:off x="393971" y="1052736"/>
            <a:ext cx="9116951" cy="47525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274773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6" r:id="rId4"/>
  </p:sldLayoutIdLst>
  <p:hf hdr="0" ftr="0"/>
  <p:txStyles>
    <p:titleStyle>
      <a:lvl1pPr algn="l" defTabSz="990657" rtl="0" eaLnBrk="1" latinLnBrk="0" hangingPunct="1">
        <a:lnSpc>
          <a:spcPct val="114000"/>
        </a:lnSpc>
        <a:spcBef>
          <a:spcPct val="0"/>
        </a:spcBef>
        <a:buNone/>
        <a:defRPr sz="2000" b="1" kern="1200" cap="none" spc="0" baseline="0">
          <a:solidFill>
            <a:schemeClr val="accent1"/>
          </a:solidFill>
          <a:latin typeface="+mj-lt"/>
          <a:ea typeface="+mj-ea"/>
          <a:cs typeface="+mj-cs"/>
        </a:defRPr>
      </a:lvl1pPr>
    </p:titleStyle>
    <p:body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p:bodyStyle>
    <p:otherStyle>
      <a:defPPr>
        <a:defRPr lang="en-US"/>
      </a:defPPr>
      <a:lvl1pPr marL="0" algn="l" defTabSz="990657" rtl="0" eaLnBrk="1" latinLnBrk="0" hangingPunct="1">
        <a:defRPr sz="1950" kern="1200">
          <a:solidFill>
            <a:schemeClr val="tx1"/>
          </a:solidFill>
          <a:latin typeface="+mn-lt"/>
          <a:ea typeface="+mn-ea"/>
          <a:cs typeface="+mn-cs"/>
        </a:defRPr>
      </a:lvl1pPr>
      <a:lvl2pPr marL="495328" algn="l" defTabSz="990657" rtl="0" eaLnBrk="1" latinLnBrk="0" hangingPunct="1">
        <a:defRPr sz="1950" kern="1200">
          <a:solidFill>
            <a:schemeClr val="tx1"/>
          </a:solidFill>
          <a:latin typeface="+mn-lt"/>
          <a:ea typeface="+mn-ea"/>
          <a:cs typeface="+mn-cs"/>
        </a:defRPr>
      </a:lvl2pPr>
      <a:lvl3pPr marL="990657" algn="l" defTabSz="990657" rtl="0" eaLnBrk="1" latinLnBrk="0" hangingPunct="1">
        <a:defRPr sz="1950" kern="1200">
          <a:solidFill>
            <a:schemeClr val="tx1"/>
          </a:solidFill>
          <a:latin typeface="+mn-lt"/>
          <a:ea typeface="+mn-ea"/>
          <a:cs typeface="+mn-cs"/>
        </a:defRPr>
      </a:lvl3pPr>
      <a:lvl4pPr marL="1485984" algn="l" defTabSz="990657" rtl="0" eaLnBrk="1" latinLnBrk="0" hangingPunct="1">
        <a:defRPr sz="1950" kern="1200">
          <a:solidFill>
            <a:schemeClr val="tx1"/>
          </a:solidFill>
          <a:latin typeface="+mn-lt"/>
          <a:ea typeface="+mn-ea"/>
          <a:cs typeface="+mn-cs"/>
        </a:defRPr>
      </a:lvl4pPr>
      <a:lvl5pPr marL="1981313" algn="l" defTabSz="990657" rtl="0" eaLnBrk="1" latinLnBrk="0" hangingPunct="1">
        <a:defRPr sz="1950" kern="1200">
          <a:solidFill>
            <a:schemeClr val="tx1"/>
          </a:solidFill>
          <a:latin typeface="+mn-lt"/>
          <a:ea typeface="+mn-ea"/>
          <a:cs typeface="+mn-cs"/>
        </a:defRPr>
      </a:lvl5pPr>
      <a:lvl6pPr marL="2476641" algn="l" defTabSz="990657" rtl="0" eaLnBrk="1" latinLnBrk="0" hangingPunct="1">
        <a:defRPr sz="1950" kern="1200">
          <a:solidFill>
            <a:schemeClr val="tx1"/>
          </a:solidFill>
          <a:latin typeface="+mn-lt"/>
          <a:ea typeface="+mn-ea"/>
          <a:cs typeface="+mn-cs"/>
        </a:defRPr>
      </a:lvl6pPr>
      <a:lvl7pPr marL="2971970" algn="l" defTabSz="990657" rtl="0" eaLnBrk="1" latinLnBrk="0" hangingPunct="1">
        <a:defRPr sz="1950" kern="1200">
          <a:solidFill>
            <a:schemeClr val="tx1"/>
          </a:solidFill>
          <a:latin typeface="+mn-lt"/>
          <a:ea typeface="+mn-ea"/>
          <a:cs typeface="+mn-cs"/>
        </a:defRPr>
      </a:lvl7pPr>
      <a:lvl8pPr marL="3467297" algn="l" defTabSz="990657" rtl="0" eaLnBrk="1" latinLnBrk="0" hangingPunct="1">
        <a:defRPr sz="1950" kern="1200">
          <a:solidFill>
            <a:schemeClr val="tx1"/>
          </a:solidFill>
          <a:latin typeface="+mn-lt"/>
          <a:ea typeface="+mn-ea"/>
          <a:cs typeface="+mn-cs"/>
        </a:defRPr>
      </a:lvl8pPr>
      <a:lvl9pPr marL="3962626" algn="l" defTabSz="990657" rtl="0" eaLnBrk="1" latinLnBrk="0" hangingPunct="1">
        <a:defRPr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26" userDrawn="1">
          <p15:clr>
            <a:srgbClr val="F26B43"/>
          </p15:clr>
        </p15:guide>
        <p15:guide id="2" pos="248" userDrawn="1">
          <p15:clr>
            <a:srgbClr val="F26B43"/>
          </p15:clr>
        </p15:guide>
        <p15:guide id="3" pos="5992" userDrawn="1">
          <p15:clr>
            <a:srgbClr val="F26B43"/>
          </p15:clr>
        </p15:guide>
        <p15:guide id="4" orient="horz" pos="278" userDrawn="1">
          <p15:clr>
            <a:srgbClr val="F26B43"/>
          </p15:clr>
        </p15:guide>
        <p15:guide id="6" pos="2935" userDrawn="1">
          <p15:clr>
            <a:srgbClr val="F26B43"/>
          </p15:clr>
        </p15:guide>
        <p15:guide id="7" pos="3305" userDrawn="1">
          <p15:clr>
            <a:srgbClr val="F26B43"/>
          </p15:clr>
        </p15:guide>
        <p15:guide id="8" orient="horz" pos="363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E0D442-5A2D-4B5C-B541-D25F7EB2CA31}"/>
              </a:ext>
            </a:extLst>
          </p:cNvPr>
          <p:cNvSpPr>
            <a:spLocks noGrp="1"/>
          </p:cNvSpPr>
          <p:nvPr>
            <p:ph type="ctrTitle"/>
          </p:nvPr>
        </p:nvSpPr>
        <p:spPr>
          <a:xfrm>
            <a:off x="634225" y="897384"/>
            <a:ext cx="8456577" cy="803424"/>
          </a:xfrm>
        </p:spPr>
        <p:txBody>
          <a:bodyPr/>
          <a:lstStyle/>
          <a:p>
            <a:pPr algn="ctr"/>
            <a:r>
              <a:rPr lang="en-US" sz="1600" cap="none">
                <a:cs typeface="Arial" panose="020B0604020202020204" pitchFamily="34" charset="0"/>
              </a:rPr>
              <a:t>IMP-EGH: Interdisciplinary Master Program – Energy &amp; Green Hydrogen </a:t>
            </a:r>
            <a:br>
              <a:rPr lang="en-US" sz="1600" cap="none">
                <a:cs typeface="Arial" panose="020B0604020202020204" pitchFamily="34" charset="0"/>
              </a:rPr>
            </a:br>
            <a:r>
              <a:rPr lang="en-US" sz="1600" cap="none">
                <a:cs typeface="Arial" panose="020B0604020202020204" pitchFamily="34" charset="0"/>
              </a:rPr>
              <a:t>Track 6: Systems Analysis for Green Hydrogen</a:t>
            </a:r>
          </a:p>
        </p:txBody>
      </p:sp>
      <p:sp>
        <p:nvSpPr>
          <p:cNvPr id="5" name="Subtitle 4">
            <a:extLst>
              <a:ext uri="{FF2B5EF4-FFF2-40B4-BE49-F238E27FC236}">
                <a16:creationId xmlns:a16="http://schemas.microsoft.com/office/drawing/2014/main" id="{4188AD4B-5237-41FA-97FC-513ED46897D4}"/>
              </a:ext>
            </a:extLst>
          </p:cNvPr>
          <p:cNvSpPr>
            <a:spLocks noGrp="1"/>
          </p:cNvSpPr>
          <p:nvPr>
            <p:ph type="subTitle" idx="1"/>
          </p:nvPr>
        </p:nvSpPr>
        <p:spPr>
          <a:xfrm>
            <a:off x="629453" y="1916832"/>
            <a:ext cx="8456576" cy="1044627"/>
          </a:xfrm>
        </p:spPr>
        <p:txBody>
          <a:bodyPr>
            <a:normAutofit/>
          </a:bodyPr>
          <a:lstStyle/>
          <a:p>
            <a:r>
              <a:rPr lang="en-US" sz="2000"/>
              <a:t>3</a:t>
            </a:r>
            <a:r>
              <a:rPr lang="en-US" sz="2000" baseline="30000"/>
              <a:t>rd</a:t>
            </a:r>
            <a:r>
              <a:rPr lang="en-US" sz="2000"/>
              <a:t> Semester | Heidi U. Heinrichs, Arne Burdack</a:t>
            </a:r>
          </a:p>
          <a:p>
            <a:pPr algn="ctr"/>
            <a:r>
              <a:rPr lang="en-US" cap="none">
                <a:latin typeface="Arial" panose="020B0604020202020204" pitchFamily="34" charset="0"/>
                <a:cs typeface="Arial" panose="020B0604020202020204" pitchFamily="34" charset="0"/>
              </a:rPr>
              <a:t>h.heinrichs@fz-juelich.de</a:t>
            </a:r>
          </a:p>
        </p:txBody>
      </p:sp>
      <p:sp>
        <p:nvSpPr>
          <p:cNvPr id="6" name="Untertitel 2">
            <a:extLst>
              <a:ext uri="{FF2B5EF4-FFF2-40B4-BE49-F238E27FC236}">
                <a16:creationId xmlns:a16="http://schemas.microsoft.com/office/drawing/2014/main" id="{6A378C28-4B8B-4FC5-8F7A-49D0C31C9E36}"/>
              </a:ext>
            </a:extLst>
          </p:cNvPr>
          <p:cNvSpPr txBox="1">
            <a:spLocks/>
          </p:cNvSpPr>
          <p:nvPr/>
        </p:nvSpPr>
        <p:spPr>
          <a:xfrm>
            <a:off x="726587" y="4158208"/>
            <a:ext cx="8456579" cy="300732"/>
          </a:xfrm>
          <a:prstGeom prst="rect">
            <a:avLst/>
          </a:prstGeom>
        </p:spPr>
        <p:txBody>
          <a:bodyPr vert="horz" lIns="0" tIns="0" rIns="0" bIns="0" rtlCol="0" anchor="t" anchorCtr="0">
            <a:noAutofit/>
          </a:bodyPr>
          <a:lstStyle>
            <a:lvl1pPr marL="0" indent="0" algn="l" defTabSz="969996" rtl="0" eaLnBrk="1" latinLnBrk="0" hangingPunct="1">
              <a:lnSpc>
                <a:spcPct val="113000"/>
              </a:lnSpc>
              <a:spcBef>
                <a:spcPts val="0"/>
              </a:spcBef>
              <a:spcAft>
                <a:spcPts val="600"/>
              </a:spcAft>
              <a:buFont typeface="Calibri" panose="020F0502020204030204" pitchFamily="34" charset="0"/>
              <a:buNone/>
              <a:defRPr sz="1600" kern="1200" cap="all" spc="64" baseline="0">
                <a:solidFill>
                  <a:schemeClr val="bg1"/>
                </a:solidFill>
                <a:latin typeface="+mn-lt"/>
                <a:ea typeface="+mn-ea"/>
                <a:cs typeface="+mn-cs"/>
              </a:defRPr>
            </a:lvl1pPr>
            <a:lvl2pPr marL="484998" indent="0" algn="ctr" defTabSz="969996" rtl="0" eaLnBrk="1" latinLnBrk="0" hangingPunct="1">
              <a:lnSpc>
                <a:spcPct val="113000"/>
              </a:lnSpc>
              <a:spcBef>
                <a:spcPts val="0"/>
              </a:spcBef>
              <a:spcAft>
                <a:spcPts val="600"/>
              </a:spcAft>
              <a:buFont typeface="Calibri" panose="020F0502020204030204" pitchFamily="34" charset="0"/>
              <a:buNone/>
              <a:defRPr sz="2122" kern="1200">
                <a:solidFill>
                  <a:schemeClr val="tx1"/>
                </a:solidFill>
                <a:latin typeface="+mn-lt"/>
                <a:ea typeface="+mn-ea"/>
                <a:cs typeface="+mn-cs"/>
              </a:defRPr>
            </a:lvl2pPr>
            <a:lvl3pPr marL="969996" indent="0" algn="ctr" defTabSz="969996" rtl="0" eaLnBrk="1" latinLnBrk="0" hangingPunct="1">
              <a:lnSpc>
                <a:spcPct val="113000"/>
              </a:lnSpc>
              <a:spcBef>
                <a:spcPts val="0"/>
              </a:spcBef>
              <a:spcAft>
                <a:spcPts val="600"/>
              </a:spcAft>
              <a:buFont typeface="Calibri" panose="020F0502020204030204" pitchFamily="34" charset="0"/>
              <a:buNone/>
              <a:defRPr sz="1909" kern="1200">
                <a:solidFill>
                  <a:schemeClr val="tx1"/>
                </a:solidFill>
                <a:latin typeface="+mn-lt"/>
                <a:ea typeface="+mn-ea"/>
                <a:cs typeface="+mn-cs"/>
              </a:defRPr>
            </a:lvl3pPr>
            <a:lvl4pPr marL="1454993"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4pPr>
            <a:lvl5pPr marL="1939991"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5pPr>
            <a:lvl6pPr marL="2424989"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6pPr>
            <a:lvl7pPr marL="2909987"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7pPr>
            <a:lvl8pPr marL="3394984"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8pPr>
            <a:lvl9pPr marL="3879982"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9pPr>
          </a:lstStyle>
          <a:p>
            <a:pPr algn="ctr"/>
            <a:endParaRPr lang="en-US" sz="1400" cap="none">
              <a:latin typeface="Arial" panose="020B0604020202020204" pitchFamily="34" charset="0"/>
              <a:cs typeface="Arial" panose="020B0604020202020204" pitchFamily="34" charset="0"/>
            </a:endParaRPr>
          </a:p>
        </p:txBody>
      </p:sp>
      <p:sp>
        <p:nvSpPr>
          <p:cNvPr id="9" name="Untertitel 2">
            <a:extLst>
              <a:ext uri="{FF2B5EF4-FFF2-40B4-BE49-F238E27FC236}">
                <a16:creationId xmlns:a16="http://schemas.microsoft.com/office/drawing/2014/main" id="{D187ECF2-D84A-4D7C-A88D-025259E692AC}"/>
              </a:ext>
            </a:extLst>
          </p:cNvPr>
          <p:cNvSpPr txBox="1">
            <a:spLocks/>
          </p:cNvSpPr>
          <p:nvPr/>
        </p:nvSpPr>
        <p:spPr>
          <a:xfrm>
            <a:off x="726587" y="3416300"/>
            <a:ext cx="8456579" cy="732780"/>
          </a:xfrm>
          <a:prstGeom prst="rect">
            <a:avLst/>
          </a:prstGeom>
        </p:spPr>
        <p:txBody>
          <a:bodyPr vert="horz" lIns="0" tIns="0" rIns="0" bIns="0" rtlCol="0" anchor="t" anchorCtr="0">
            <a:noAutofit/>
          </a:bodyPr>
          <a:lstStyle>
            <a:lvl1pPr marL="0" indent="0" algn="l" defTabSz="969996" rtl="0" eaLnBrk="1" latinLnBrk="0" hangingPunct="1">
              <a:lnSpc>
                <a:spcPct val="113000"/>
              </a:lnSpc>
              <a:spcBef>
                <a:spcPts val="0"/>
              </a:spcBef>
              <a:spcAft>
                <a:spcPts val="600"/>
              </a:spcAft>
              <a:buFont typeface="Calibri" panose="020F0502020204030204" pitchFamily="34" charset="0"/>
              <a:buNone/>
              <a:defRPr sz="1600" kern="1200" cap="all" spc="64" baseline="0">
                <a:solidFill>
                  <a:schemeClr val="bg1"/>
                </a:solidFill>
                <a:latin typeface="+mn-lt"/>
                <a:ea typeface="+mn-ea"/>
                <a:cs typeface="+mn-cs"/>
              </a:defRPr>
            </a:lvl1pPr>
            <a:lvl2pPr marL="484998" indent="0" algn="ctr" defTabSz="969996" rtl="0" eaLnBrk="1" latinLnBrk="0" hangingPunct="1">
              <a:lnSpc>
                <a:spcPct val="113000"/>
              </a:lnSpc>
              <a:spcBef>
                <a:spcPts val="0"/>
              </a:spcBef>
              <a:spcAft>
                <a:spcPts val="600"/>
              </a:spcAft>
              <a:buFont typeface="Calibri" panose="020F0502020204030204" pitchFamily="34" charset="0"/>
              <a:buNone/>
              <a:defRPr sz="2122" kern="1200">
                <a:solidFill>
                  <a:schemeClr val="tx1"/>
                </a:solidFill>
                <a:latin typeface="+mn-lt"/>
                <a:ea typeface="+mn-ea"/>
                <a:cs typeface="+mn-cs"/>
              </a:defRPr>
            </a:lvl2pPr>
            <a:lvl3pPr marL="969996" indent="0" algn="ctr" defTabSz="969996" rtl="0" eaLnBrk="1" latinLnBrk="0" hangingPunct="1">
              <a:lnSpc>
                <a:spcPct val="113000"/>
              </a:lnSpc>
              <a:spcBef>
                <a:spcPts val="0"/>
              </a:spcBef>
              <a:spcAft>
                <a:spcPts val="600"/>
              </a:spcAft>
              <a:buFont typeface="Calibri" panose="020F0502020204030204" pitchFamily="34" charset="0"/>
              <a:buNone/>
              <a:defRPr sz="1909" kern="1200">
                <a:solidFill>
                  <a:schemeClr val="tx1"/>
                </a:solidFill>
                <a:latin typeface="+mn-lt"/>
                <a:ea typeface="+mn-ea"/>
                <a:cs typeface="+mn-cs"/>
              </a:defRPr>
            </a:lvl3pPr>
            <a:lvl4pPr marL="1454993"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4pPr>
            <a:lvl5pPr marL="1939991"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5pPr>
            <a:lvl6pPr marL="2424989"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6pPr>
            <a:lvl7pPr marL="2909987"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7pPr>
            <a:lvl8pPr marL="3394984"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8pPr>
            <a:lvl9pPr marL="3879982"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9pPr>
          </a:lstStyle>
          <a:p>
            <a:pPr algn="ctr"/>
            <a:r>
              <a:rPr lang="en-US" cap="none" dirty="0">
                <a:solidFill>
                  <a:prstClr val="white"/>
                </a:solidFill>
                <a:cs typeface="Arial" panose="020B0604020202020204" pitchFamily="34" charset="0"/>
              </a:rPr>
              <a:t>Exercises 8: Electricity and Hydrogen Demand Solution </a:t>
            </a:r>
          </a:p>
          <a:p>
            <a:pPr algn="ctr"/>
            <a:r>
              <a:rPr lang="en-US" cap="none" dirty="0">
                <a:solidFill>
                  <a:prstClr val="white"/>
                </a:solidFill>
                <a:cs typeface="Arial" panose="020B0604020202020204" pitchFamily="34" charset="0"/>
              </a:rPr>
              <a:t>March 2025</a:t>
            </a:r>
          </a:p>
          <a:p>
            <a:pPr algn="ctr"/>
            <a:endParaRPr lang="en-US" cap="none" dirty="0">
              <a:solidFill>
                <a:prstClr val="white"/>
              </a:solidFill>
              <a:cs typeface="Arial" panose="020B0604020202020204" pitchFamily="34" charset="0"/>
            </a:endParaRPr>
          </a:p>
        </p:txBody>
      </p:sp>
    </p:spTree>
    <p:extLst>
      <p:ext uri="{BB962C8B-B14F-4D97-AF65-F5344CB8AC3E}">
        <p14:creationId xmlns:p14="http://schemas.microsoft.com/office/powerpoint/2010/main" val="3215109762"/>
      </p:ext>
    </p:extLst>
  </p:cSld>
  <p:clrMapOvr>
    <a:masterClrMapping/>
  </p:clrMapOvr>
  <mc:AlternateContent xmlns:mc="http://schemas.openxmlformats.org/markup-compatibility/2006" xmlns:p14="http://schemas.microsoft.com/office/powerpoint/2010/main">
    <mc:Choice Requires="p14">
      <p:transition spd="slow" p14:dur="2000" advTm="19838"/>
    </mc:Choice>
    <mc:Fallback xmlns="">
      <p:transition spd="slow" advTm="1983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de-DE" dirty="0" err="1"/>
              <a:t>Exercise</a:t>
            </a:r>
            <a:r>
              <a:rPr lang="de-DE" dirty="0"/>
              <a:t> 1) </a:t>
            </a:r>
            <a:r>
              <a:rPr lang="de-DE" dirty="0" err="1"/>
              <a:t>Adding</a:t>
            </a:r>
            <a:r>
              <a:rPr lang="de-DE" dirty="0"/>
              <a:t> and </a:t>
            </a:r>
            <a:r>
              <a:rPr lang="de-DE" dirty="0" err="1"/>
              <a:t>changing</a:t>
            </a:r>
            <a:r>
              <a:rPr lang="de-DE" dirty="0"/>
              <a:t> </a:t>
            </a:r>
            <a:r>
              <a:rPr lang="de-DE" dirty="0" err="1"/>
              <a:t>electricity</a:t>
            </a:r>
            <a:r>
              <a:rPr lang="de-DE" dirty="0"/>
              <a:t> </a:t>
            </a:r>
            <a:r>
              <a:rPr lang="de-DE" dirty="0" err="1"/>
              <a:t>demands</a:t>
            </a:r>
            <a:r>
              <a:rPr lang="de-DE" dirty="0"/>
              <a:t>: </a:t>
            </a:r>
            <a:endParaRPr lang="en-US" dirty="0"/>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de-DE" smtClean="0"/>
              <a:pPr/>
              <a:t>2</a:t>
            </a:fld>
            <a:endParaRPr lang="de-DE"/>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5" name="Textplatzhalter 4">
            <a:extLst>
              <a:ext uri="{FF2B5EF4-FFF2-40B4-BE49-F238E27FC236}">
                <a16:creationId xmlns:a16="http://schemas.microsoft.com/office/drawing/2014/main" id="{3927EE12-A636-46E8-981D-9B50B617CF1E}"/>
              </a:ext>
            </a:extLst>
          </p:cNvPr>
          <p:cNvSpPr>
            <a:spLocks noGrp="1"/>
          </p:cNvSpPr>
          <p:nvPr>
            <p:ph type="body" sz="quarter" idx="12"/>
          </p:nvPr>
        </p:nvSpPr>
        <p:spPr>
          <a:xfrm>
            <a:off x="393971" y="1052735"/>
            <a:ext cx="9131029" cy="4373703"/>
          </a:xfrm>
        </p:spPr>
        <p:txBody>
          <a:bodyPr>
            <a:normAutofit/>
          </a:bodyPr>
          <a:lstStyle/>
          <a:p>
            <a:pPr marL="0" indent="0">
              <a:buNone/>
            </a:pPr>
            <a:endParaRPr lang="en-US" dirty="0"/>
          </a:p>
          <a:p>
            <a:pPr marL="342900" indent="-342900">
              <a:buAutoNum type="alphaLcParenR"/>
            </a:pPr>
            <a:r>
              <a:rPr lang="en-US" b="1" u="sng" dirty="0"/>
              <a:t> </a:t>
            </a:r>
          </a:p>
          <a:p>
            <a:pPr marL="0" indent="0">
              <a:buNone/>
            </a:pPr>
            <a:r>
              <a:rPr lang="en-US" b="1" u="sng" dirty="0"/>
              <a:t>class:</a:t>
            </a:r>
            <a:r>
              <a:rPr lang="en-US" b="1" dirty="0"/>
              <a:t> </a:t>
            </a:r>
            <a:r>
              <a:rPr lang="en-US" dirty="0"/>
              <a:t>sink</a:t>
            </a:r>
            <a:endParaRPr lang="en-US" b="1" u="sng" dirty="0"/>
          </a:p>
          <a:p>
            <a:pPr marL="0" indent="0">
              <a:buNone/>
            </a:pPr>
            <a:r>
              <a:rPr lang="en-US" b="1" u="sng" dirty="0"/>
              <a:t>Method:</a:t>
            </a:r>
            <a:r>
              <a:rPr lang="en-US" dirty="0"/>
              <a:t> add</a:t>
            </a:r>
            <a:endParaRPr lang="en-US" b="0" dirty="0">
              <a:effectLst/>
            </a:endParaRPr>
          </a:p>
          <a:p>
            <a:pPr marL="0" indent="0">
              <a:buNone/>
            </a:pPr>
            <a:br>
              <a:rPr lang="en-US" b="0" dirty="0">
                <a:effectLst/>
              </a:rPr>
            </a:br>
            <a:r>
              <a:rPr lang="en-US" b="0" dirty="0">
                <a:effectLst/>
              </a:rPr>
              <a:t>b) Check the resulting optimization summary and the plots: </a:t>
            </a:r>
          </a:p>
          <a:p>
            <a:pPr marL="817589" lvl="2" indent="-342900">
              <a:buFont typeface="+mj-lt"/>
              <a:buAutoNum type="arabicPeriod"/>
            </a:pPr>
            <a:r>
              <a:rPr lang="en-US" b="0" dirty="0">
                <a:effectLst/>
              </a:rPr>
              <a:t>The regions with the highest demand also have the highest Solar and wind capacities</a:t>
            </a:r>
          </a:p>
          <a:p>
            <a:pPr marL="817589" lvl="2" indent="-342900">
              <a:buFont typeface="+mj-lt"/>
              <a:buAutoNum type="arabicPeriod"/>
            </a:pPr>
            <a:r>
              <a:rPr lang="en-US" b="0" dirty="0">
                <a:effectLst/>
              </a:rPr>
              <a:t>The household sector with its typical peak in the evening hours</a:t>
            </a:r>
          </a:p>
        </p:txBody>
      </p:sp>
      <p:sp>
        <p:nvSpPr>
          <p:cNvPr id="6" name="Textplatzhalter 4">
            <a:extLst>
              <a:ext uri="{FF2B5EF4-FFF2-40B4-BE49-F238E27FC236}">
                <a16:creationId xmlns:a16="http://schemas.microsoft.com/office/drawing/2014/main" id="{3C32398B-B740-40CE-AD09-73335A176BE3}"/>
              </a:ext>
            </a:extLst>
          </p:cNvPr>
          <p:cNvSpPr txBox="1">
            <a:spLocks/>
          </p:cNvSpPr>
          <p:nvPr/>
        </p:nvSpPr>
        <p:spPr>
          <a:xfrm>
            <a:off x="393971" y="4466599"/>
            <a:ext cx="9131029" cy="1553201"/>
          </a:xfrm>
          <a:prstGeom prst="rect">
            <a:avLst/>
          </a:prstGeom>
        </p:spPr>
        <p:txBody>
          <a:bodyPr vert="horz" lIns="91440" tIns="45720" rIns="91440" bIns="45720" rtlCol="0">
            <a:normAutofit/>
          </a:bodyPr>
          <a:lst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a:lstStyle>
          <a:p>
            <a:pPr marL="0" indent="0">
              <a:buNone/>
            </a:pPr>
            <a:r>
              <a:rPr lang="de-DE" dirty="0"/>
              <a:t>Materials </a:t>
            </a:r>
            <a:r>
              <a:rPr lang="de-DE" dirty="0" err="1"/>
              <a:t>to</a:t>
            </a:r>
            <a:r>
              <a:rPr lang="de-DE" dirty="0"/>
              <a:t> </a:t>
            </a:r>
            <a:r>
              <a:rPr lang="de-DE" dirty="0" err="1"/>
              <a:t>be</a:t>
            </a:r>
            <a:r>
              <a:rPr lang="de-DE" dirty="0"/>
              <a:t> </a:t>
            </a:r>
            <a:r>
              <a:rPr lang="de-DE" dirty="0" err="1"/>
              <a:t>used</a:t>
            </a:r>
            <a:r>
              <a:rPr lang="de-DE" dirty="0"/>
              <a:t>:</a:t>
            </a:r>
          </a:p>
          <a:p>
            <a:r>
              <a:rPr lang="en-US" b="0" dirty="0">
                <a:effectLst/>
              </a:rPr>
              <a:t>C:\Programming\GradSchool2022\wascal_graduate_school\student_files\exercises\Unit_08_ElectricityAndHydrogenDemand\SolutionExcercise_1-ElectricityDemand.ipynb</a:t>
            </a:r>
            <a:endParaRPr lang="en-US" dirty="0">
              <a:solidFill>
                <a:schemeClr val="bg1">
                  <a:lumMod val="50000"/>
                </a:schemeClr>
              </a:solidFill>
            </a:endParaRPr>
          </a:p>
        </p:txBody>
      </p:sp>
    </p:spTree>
    <p:extLst>
      <p:ext uri="{BB962C8B-B14F-4D97-AF65-F5344CB8AC3E}">
        <p14:creationId xmlns:p14="http://schemas.microsoft.com/office/powerpoint/2010/main" val="656820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en-US"/>
              <a:t>Exercise 1) Adding and changing electricity demands: </a:t>
            </a:r>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en-US" smtClean="0"/>
              <a:pPr/>
              <a:t>3</a:t>
            </a:fld>
            <a:endParaRPr lang="en-US"/>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5" name="Textplatzhalter 4">
            <a:extLst>
              <a:ext uri="{FF2B5EF4-FFF2-40B4-BE49-F238E27FC236}">
                <a16:creationId xmlns:a16="http://schemas.microsoft.com/office/drawing/2014/main" id="{3927EE12-A636-46E8-981D-9B50B617CF1E}"/>
              </a:ext>
            </a:extLst>
          </p:cNvPr>
          <p:cNvSpPr>
            <a:spLocks noGrp="1"/>
          </p:cNvSpPr>
          <p:nvPr>
            <p:ph type="body" sz="quarter" idx="12"/>
          </p:nvPr>
        </p:nvSpPr>
        <p:spPr>
          <a:xfrm>
            <a:off x="393971" y="1052735"/>
            <a:ext cx="9131029" cy="4373703"/>
          </a:xfrm>
        </p:spPr>
        <p:txBody>
          <a:bodyPr>
            <a:normAutofit/>
          </a:bodyPr>
          <a:lstStyle/>
          <a:p>
            <a:pPr marL="0" indent="0">
              <a:buNone/>
            </a:pPr>
            <a:r>
              <a:rPr lang="en-US" b="0" dirty="0">
                <a:effectLst/>
              </a:rPr>
              <a:t>c) </a:t>
            </a:r>
          </a:p>
          <a:p>
            <a:pPr marL="240785" lvl="1" indent="0">
              <a:buNone/>
            </a:pPr>
            <a:r>
              <a:rPr lang="en-US" b="0" dirty="0">
                <a:effectLst/>
              </a:rPr>
              <a:t>2. With a rising electricity demand the electricity supply of the </a:t>
            </a:r>
            <a:r>
              <a:rPr lang="en-US" b="0" dirty="0" err="1">
                <a:effectLst/>
              </a:rPr>
              <a:t>SuperExpensiveElectricity</a:t>
            </a:r>
            <a:r>
              <a:rPr lang="en-US" b="0" dirty="0">
                <a:effectLst/>
              </a:rPr>
              <a:t>-Source rises, too. In reality this super expensive source, that we made super expensive because we wanted the model only to use it as a last resort, could be a diesel generator with high emissions, that produces electricity when wind and solar are not available. This causes emissions, especially due to the modeling results the wind energy is not very effective in Niger. </a:t>
            </a:r>
            <a:r>
              <a:rPr lang="en-US" dirty="0"/>
              <a:t>Check the coming exercises to explore what can be implemented to a renewable energy system to run it without emissions. </a:t>
            </a:r>
            <a:r>
              <a:rPr lang="en-US" b="0" dirty="0">
                <a:effectLst/>
              </a:rPr>
              <a:t>  </a:t>
            </a:r>
          </a:p>
          <a:p>
            <a:pPr marL="0" indent="0">
              <a:buNone/>
            </a:pPr>
            <a:endParaRPr lang="en-US" b="0" dirty="0">
              <a:effectLst/>
            </a:endParaRPr>
          </a:p>
        </p:txBody>
      </p:sp>
      <p:sp>
        <p:nvSpPr>
          <p:cNvPr id="6" name="Textplatzhalter 4">
            <a:extLst>
              <a:ext uri="{FF2B5EF4-FFF2-40B4-BE49-F238E27FC236}">
                <a16:creationId xmlns:a16="http://schemas.microsoft.com/office/drawing/2014/main" id="{3C32398B-B740-40CE-AD09-73335A176BE3}"/>
              </a:ext>
            </a:extLst>
          </p:cNvPr>
          <p:cNvSpPr txBox="1">
            <a:spLocks/>
          </p:cNvSpPr>
          <p:nvPr/>
        </p:nvSpPr>
        <p:spPr>
          <a:xfrm>
            <a:off x="393971" y="4931289"/>
            <a:ext cx="9131029" cy="1553201"/>
          </a:xfrm>
          <a:prstGeom prst="rect">
            <a:avLst/>
          </a:prstGeom>
        </p:spPr>
        <p:txBody>
          <a:bodyPr vert="horz" lIns="91440" tIns="45720" rIns="91440" bIns="45720" rtlCol="0">
            <a:normAutofit/>
          </a:bodyPr>
          <a:lst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a:lstStyle>
          <a:p>
            <a:pPr marL="0" indent="0">
              <a:buNone/>
            </a:pPr>
            <a:r>
              <a:rPr lang="en-US"/>
              <a:t>Materials to be used:</a:t>
            </a:r>
          </a:p>
          <a:p>
            <a:r>
              <a:rPr lang="en-US" b="0">
                <a:effectLst/>
              </a:rPr>
              <a:t>C:\Programming\GradSchool2022\wascal_graduate_school\student_files\exercises\Unit_08_ElectricityAndHydrogenDemand\SolutionExcercise_1-ElectricityDemand2030.ipynb</a:t>
            </a:r>
            <a:endParaRPr lang="en-US">
              <a:solidFill>
                <a:schemeClr val="bg1">
                  <a:lumMod val="50000"/>
                </a:schemeClr>
              </a:solidFill>
            </a:endParaRPr>
          </a:p>
        </p:txBody>
      </p:sp>
    </p:spTree>
    <p:extLst>
      <p:ext uri="{BB962C8B-B14F-4D97-AF65-F5344CB8AC3E}">
        <p14:creationId xmlns:p14="http://schemas.microsoft.com/office/powerpoint/2010/main" val="340234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en-US"/>
              <a:t>Exercise 2) Adding and changing electricity demands: </a:t>
            </a:r>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en-US" smtClean="0"/>
              <a:pPr/>
              <a:t>4</a:t>
            </a:fld>
            <a:endParaRPr lang="en-US"/>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5" name="Textplatzhalter 4">
            <a:extLst>
              <a:ext uri="{FF2B5EF4-FFF2-40B4-BE49-F238E27FC236}">
                <a16:creationId xmlns:a16="http://schemas.microsoft.com/office/drawing/2014/main" id="{3927EE12-A636-46E8-981D-9B50B617CF1E}"/>
              </a:ext>
            </a:extLst>
          </p:cNvPr>
          <p:cNvSpPr>
            <a:spLocks noGrp="1"/>
          </p:cNvSpPr>
          <p:nvPr>
            <p:ph type="body" sz="quarter" idx="12"/>
          </p:nvPr>
        </p:nvSpPr>
        <p:spPr>
          <a:xfrm>
            <a:off x="393971" y="1052735"/>
            <a:ext cx="9131029" cy="4373703"/>
          </a:xfrm>
        </p:spPr>
        <p:txBody>
          <a:bodyPr>
            <a:normAutofit/>
          </a:bodyPr>
          <a:lstStyle/>
          <a:p>
            <a:pPr marL="0" indent="0">
              <a:buNone/>
            </a:pPr>
            <a:r>
              <a:rPr lang="de-DE" dirty="0"/>
              <a:t>c</a:t>
            </a:r>
            <a:r>
              <a:rPr lang="en-US" dirty="0"/>
              <a:t>) Adding a hydrogen demand leads to rising PV and Wind capacities to satisfy the energy demand of the conversion class “</a:t>
            </a:r>
            <a:r>
              <a:rPr lang="en-US" dirty="0" err="1"/>
              <a:t>electrolyzer</a:t>
            </a:r>
            <a:r>
              <a:rPr lang="en-US" dirty="0"/>
              <a:t>”.  Also, the </a:t>
            </a:r>
            <a:r>
              <a:rPr lang="en-US" b="0" dirty="0" err="1">
                <a:effectLst/>
              </a:rPr>
              <a:t>the</a:t>
            </a:r>
            <a:r>
              <a:rPr lang="en-US" b="0" dirty="0">
                <a:effectLst/>
              </a:rPr>
              <a:t> </a:t>
            </a:r>
            <a:r>
              <a:rPr lang="en-US" b="0" dirty="0" err="1">
                <a:effectLst/>
              </a:rPr>
              <a:t>SuperExpensiveElectricity</a:t>
            </a:r>
            <a:r>
              <a:rPr lang="en-US" b="0" dirty="0">
                <a:effectLst/>
              </a:rPr>
              <a:t>-Source is used more. </a:t>
            </a:r>
            <a:r>
              <a:rPr lang="en-US" dirty="0"/>
              <a:t>For green hydrogen it is crucial, that all electricity sources are green, too.</a:t>
            </a:r>
          </a:p>
        </p:txBody>
      </p:sp>
      <p:sp>
        <p:nvSpPr>
          <p:cNvPr id="6" name="Textplatzhalter 4">
            <a:extLst>
              <a:ext uri="{FF2B5EF4-FFF2-40B4-BE49-F238E27FC236}">
                <a16:creationId xmlns:a16="http://schemas.microsoft.com/office/drawing/2014/main" id="{3C32398B-B740-40CE-AD09-73335A176BE3}"/>
              </a:ext>
            </a:extLst>
          </p:cNvPr>
          <p:cNvSpPr txBox="1">
            <a:spLocks/>
          </p:cNvSpPr>
          <p:nvPr/>
        </p:nvSpPr>
        <p:spPr>
          <a:xfrm>
            <a:off x="393971" y="4526559"/>
            <a:ext cx="9131029" cy="1553201"/>
          </a:xfrm>
          <a:prstGeom prst="rect">
            <a:avLst/>
          </a:prstGeom>
        </p:spPr>
        <p:txBody>
          <a:bodyPr vert="horz" lIns="91440" tIns="45720" rIns="91440" bIns="45720" rtlCol="0">
            <a:normAutofit/>
          </a:bodyPr>
          <a:lst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a:lstStyle>
          <a:p>
            <a:pPr marL="0" indent="0">
              <a:buNone/>
            </a:pPr>
            <a:r>
              <a:rPr lang="en-US"/>
              <a:t>Materials to be used:</a:t>
            </a:r>
          </a:p>
          <a:p>
            <a:r>
              <a:rPr lang="en-US" b="0">
                <a:effectLst/>
              </a:rPr>
              <a:t>C:\Programming\GradSchool2022\wascal_graduate_school\student_files\exercises\Unit_08_ElectricityAndHydrogenDemand\SolutionExcercise_2-HydrogenDemand.ipynb</a:t>
            </a:r>
            <a:endParaRPr lang="en-US">
              <a:solidFill>
                <a:schemeClr val="bg1">
                  <a:lumMod val="50000"/>
                </a:schemeClr>
              </a:solidFill>
            </a:endParaRPr>
          </a:p>
        </p:txBody>
      </p:sp>
    </p:spTree>
    <p:extLst>
      <p:ext uri="{BB962C8B-B14F-4D97-AF65-F5344CB8AC3E}">
        <p14:creationId xmlns:p14="http://schemas.microsoft.com/office/powerpoint/2010/main" val="2711369628"/>
      </p:ext>
    </p:extLst>
  </p:cSld>
  <p:clrMapOvr>
    <a:masterClrMapping/>
  </p:clrMapOvr>
</p:sld>
</file>

<file path=ppt/theme/theme1.xml><?xml version="1.0" encoding="utf-8"?>
<a:theme xmlns:a="http://schemas.openxmlformats.org/drawingml/2006/main" name="2018-02-28_ppt_a4">
  <a:themeElements>
    <a:clrScheme name="Benutzerdefiniert 292">
      <a:dk1>
        <a:sysClr val="windowText" lastClr="000000"/>
      </a:dk1>
      <a:lt1>
        <a:sysClr val="window" lastClr="FFFFFF"/>
      </a:lt1>
      <a:dk2>
        <a:srgbClr val="6D268E"/>
      </a:dk2>
      <a:lt2>
        <a:srgbClr val="EBEBEB"/>
      </a:lt2>
      <a:accent1>
        <a:srgbClr val="023D6B"/>
      </a:accent1>
      <a:accent2>
        <a:srgbClr val="ADBDE3"/>
      </a:accent2>
      <a:accent3>
        <a:srgbClr val="30A93B"/>
      </a:accent3>
      <a:accent4>
        <a:srgbClr val="FFE900"/>
      </a:accent4>
      <a:accent5>
        <a:srgbClr val="FF8C0C"/>
      </a:accent5>
      <a:accent6>
        <a:srgbClr val="DF0F44"/>
      </a:accent6>
      <a:hlink>
        <a:srgbClr val="000000"/>
      </a:hlink>
      <a:folHlink>
        <a:srgbClr val="000000"/>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95000"/>
          </a:lnSpc>
          <a:defRPr sz="2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95000"/>
          </a:lnSpc>
          <a:defRPr sz="2400" dirty="0" err="1" smtClean="0"/>
        </a:defPPr>
      </a:lstStyle>
    </a:txDef>
  </a:objectDefaults>
  <a:extraClrSchemeLst/>
  <a:extLst>
    <a:ext uri="{05A4C25C-085E-4340-85A3-A5531E510DB2}">
      <thm15:themeFamily xmlns:thm15="http://schemas.microsoft.com/office/thememl/2012/main" name="Jülich_PowerPoint_A4_en.potx" id="{3CE67491-C12E-4B6B-ACFB-F85C00567A0D}" vid="{AE4EB8DF-3FCF-4241-802A-8864FAE2CD97}"/>
    </a:ext>
  </a:extLst>
</a:theme>
</file>

<file path=ppt/theme/theme2.xml><?xml version="1.0" encoding="utf-8"?>
<a:theme xmlns:a="http://schemas.openxmlformats.org/drawingml/2006/main" name="Office">
  <a:themeElements>
    <a:clrScheme name="Benutzerdefiniert 282">
      <a:dk1>
        <a:sysClr val="windowText" lastClr="000000"/>
      </a:dk1>
      <a:lt1>
        <a:sysClr val="window" lastClr="FFFFFF"/>
      </a:lt1>
      <a:dk2>
        <a:srgbClr val="AF82B9"/>
      </a:dk2>
      <a:lt2>
        <a:srgbClr val="EBEBEB"/>
      </a:lt2>
      <a:accent1>
        <a:srgbClr val="023D6B"/>
      </a:accent1>
      <a:accent2>
        <a:srgbClr val="ADBDE3"/>
      </a:accent2>
      <a:accent3>
        <a:srgbClr val="B9D25F"/>
      </a:accent3>
      <a:accent4>
        <a:srgbClr val="FAEB5A"/>
      </a:accent4>
      <a:accent5>
        <a:srgbClr val="FAB45A"/>
      </a:accent5>
      <a:accent6>
        <a:srgbClr val="EB5F73"/>
      </a:accent6>
      <a:hlink>
        <a:srgbClr val="000000"/>
      </a:hlink>
      <a:folHlink>
        <a:srgbClr val="000000"/>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Benutzerdefiniert 282">
      <a:dk1>
        <a:sysClr val="windowText" lastClr="000000"/>
      </a:dk1>
      <a:lt1>
        <a:sysClr val="window" lastClr="FFFFFF"/>
      </a:lt1>
      <a:dk2>
        <a:srgbClr val="AF82B9"/>
      </a:dk2>
      <a:lt2>
        <a:srgbClr val="EBEBEB"/>
      </a:lt2>
      <a:accent1>
        <a:srgbClr val="023D6B"/>
      </a:accent1>
      <a:accent2>
        <a:srgbClr val="ADBDE3"/>
      </a:accent2>
      <a:accent3>
        <a:srgbClr val="B9D25F"/>
      </a:accent3>
      <a:accent4>
        <a:srgbClr val="FAEB5A"/>
      </a:accent4>
      <a:accent5>
        <a:srgbClr val="FAB45A"/>
      </a:accent5>
      <a:accent6>
        <a:srgbClr val="EB5F73"/>
      </a:accent6>
      <a:hlink>
        <a:srgbClr val="000000"/>
      </a:hlink>
      <a:folHlink>
        <a:srgbClr val="000000"/>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D180314A710F7A4EB1047E73480405AC" ma:contentTypeVersion="2" ma:contentTypeDescription="Ein neues Dokument erstellen." ma:contentTypeScope="" ma:versionID="5fce66a760adaa0c3bc41a29ccc7320c">
  <xsd:schema xmlns:xsd="http://www.w3.org/2001/XMLSchema" xmlns:xs="http://www.w3.org/2001/XMLSchema" xmlns:p="http://schemas.microsoft.com/office/2006/metadata/properties" xmlns:ns2="d7b0c8ab-ab56-4bff-bbcf-7cef73c6fd20" targetNamespace="http://schemas.microsoft.com/office/2006/metadata/properties" ma:root="true" ma:fieldsID="6ba31731252026cfbdc8e38cee30aacc" ns2:_="">
    <xsd:import namespace="d7b0c8ab-ab56-4bff-bbcf-7cef73c6fd2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b0c8ab-ab56-4bff-bbcf-7cef73c6fd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A508FC-C280-40AD-8398-BAA377701E66}">
  <ds:schemaRefs>
    <ds:schemaRef ds:uri="http://schemas.microsoft.com/sharepoint/v3/contenttype/forms"/>
  </ds:schemaRefs>
</ds:datastoreItem>
</file>

<file path=customXml/itemProps2.xml><?xml version="1.0" encoding="utf-8"?>
<ds:datastoreItem xmlns:ds="http://schemas.openxmlformats.org/officeDocument/2006/customXml" ds:itemID="{BEBFB196-69DD-47B3-A2FC-0C63F3CA58C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DD8BCB8-3A48-4D84-8E08-2A3E06938E31}">
  <ds:schemaRefs>
    <ds:schemaRef ds:uri="d7b0c8ab-ab56-4bff-bbcf-7cef73c6fd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2018-02-28_ppt_a4</Template>
  <TotalTime>0</TotalTime>
  <Words>378</Words>
  <Application>Microsoft Office PowerPoint</Application>
  <PresentationFormat>A4 Paper (210x297 mm)</PresentationFormat>
  <Paragraphs>27</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Wingdings</vt:lpstr>
      <vt:lpstr>2018-02-28_ppt_a4</vt:lpstr>
      <vt:lpstr>IMP-EGH: Interdisciplinary Master Program – Energy &amp; Green Hydrogen  Track 6: Systems Analysis for Green Hydrogen</vt:lpstr>
      <vt:lpstr>Exercise 1) Adding and changing electricity demands: </vt:lpstr>
      <vt:lpstr>Exercise 1) Adding and changing electricity demands: </vt:lpstr>
      <vt:lpstr>Exercise 2) Adding and changing electricity demands: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of presentation</dc:title>
  <dc:creator>Leander Kotzur</dc:creator>
  <cp:lastModifiedBy>Ishmam, Shitab</cp:lastModifiedBy>
  <cp:revision>25</cp:revision>
  <dcterms:created xsi:type="dcterms:W3CDTF">2018-05-18T12:37:32Z</dcterms:created>
  <dcterms:modified xsi:type="dcterms:W3CDTF">2025-03-26T04:42:17Z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0x010100D180314A710F7A4EB1047E73480405AC</vt:lpwstr>
  </property>
</Properties>
</file>